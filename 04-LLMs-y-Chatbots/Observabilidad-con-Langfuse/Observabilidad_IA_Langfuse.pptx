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Bold" charset="1" panose="00000800000000000000"/>
      <p:regular r:id="rId16"/>
    </p:embeddedFont>
    <p:embeddedFont>
      <p:font typeface="Open Sans" charset="1" panose="00000000000000000000"/>
      <p:regular r:id="rId17"/>
    </p:embeddedFont>
    <p:embeddedFont>
      <p:font typeface="Open Sans Bol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23748" y="3892516"/>
            <a:ext cx="16040504" cy="2320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96"/>
              </a:lnSpc>
            </a:pPr>
            <a:r>
              <a:rPr lang="en-US" b="true" sz="64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Observabilidad en IA: Monitorizando el Caos con Langfuse.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240212" y="6821551"/>
            <a:ext cx="9807576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7"/>
              </a:lnSpc>
            </a:pPr>
            <a:r>
              <a:rPr lang="en-US" sz="219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Rubén Pérez &amp; Daniel Gallego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240212" y="3115380"/>
            <a:ext cx="9807576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7"/>
              </a:lnSpc>
            </a:pPr>
            <a:r>
              <a:rPr lang="en-US" sz="219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219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royecto Fin de Curso | Sistemas de Big Data(IA)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956040" y="1208448"/>
            <a:ext cx="375921" cy="1246044"/>
            <a:chOff x="0" y="0"/>
            <a:chExt cx="501228" cy="1661392"/>
          </a:xfrm>
        </p:grpSpPr>
        <p:sp>
          <p:nvSpPr>
            <p:cNvPr name="AutoShape 7" id="7"/>
            <p:cNvSpPr/>
            <p:nvPr/>
          </p:nvSpPr>
          <p:spPr>
            <a:xfrm flipH="true">
              <a:off x="25400" y="129"/>
              <a:ext cx="8453" cy="1661133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 flipH="true">
              <a:off x="467375" y="129"/>
              <a:ext cx="8453" cy="1661133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8956040" y="7828211"/>
            <a:ext cx="375921" cy="1246044"/>
            <a:chOff x="0" y="0"/>
            <a:chExt cx="501228" cy="1661392"/>
          </a:xfrm>
        </p:grpSpPr>
        <p:sp>
          <p:nvSpPr>
            <p:cNvPr name="AutoShape 10" id="10"/>
            <p:cNvSpPr/>
            <p:nvPr/>
          </p:nvSpPr>
          <p:spPr>
            <a:xfrm flipH="true">
              <a:off x="25400" y="129"/>
              <a:ext cx="8453" cy="1661133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 flipH="true">
              <a:off x="467375" y="129"/>
              <a:ext cx="8453" cy="1661133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AutoShape 12" id="12"/>
          <p:cNvSpPr/>
          <p:nvPr/>
        </p:nvSpPr>
        <p:spPr>
          <a:xfrm flipV="true">
            <a:off x="1028700" y="1227498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028700" y="9055204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419598"/>
            <a:ext cx="7550804" cy="3132392"/>
            <a:chOff x="0" y="0"/>
            <a:chExt cx="1169817" cy="4852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9817" cy="485290"/>
            </a:xfrm>
            <a:custGeom>
              <a:avLst/>
              <a:gdLst/>
              <a:ahLst/>
              <a:cxnLst/>
              <a:rect r="r" b="b" t="t" l="l"/>
              <a:pathLst>
                <a:path h="485290" w="1169817">
                  <a:moveTo>
                    <a:pt x="25633" y="0"/>
                  </a:moveTo>
                  <a:lnTo>
                    <a:pt x="1144184" y="0"/>
                  </a:lnTo>
                  <a:cubicBezTo>
                    <a:pt x="1150983" y="0"/>
                    <a:pt x="1157502" y="2701"/>
                    <a:pt x="1162309" y="7508"/>
                  </a:cubicBezTo>
                  <a:cubicBezTo>
                    <a:pt x="1167116" y="12315"/>
                    <a:pt x="1169817" y="18835"/>
                    <a:pt x="1169817" y="25633"/>
                  </a:cubicBezTo>
                  <a:lnTo>
                    <a:pt x="1169817" y="459657"/>
                  </a:lnTo>
                  <a:cubicBezTo>
                    <a:pt x="1169817" y="466455"/>
                    <a:pt x="1167116" y="472975"/>
                    <a:pt x="1162309" y="477782"/>
                  </a:cubicBezTo>
                  <a:cubicBezTo>
                    <a:pt x="1157502" y="482589"/>
                    <a:pt x="1150983" y="485290"/>
                    <a:pt x="1144184" y="485290"/>
                  </a:cubicBezTo>
                  <a:lnTo>
                    <a:pt x="25633" y="485290"/>
                  </a:lnTo>
                  <a:cubicBezTo>
                    <a:pt x="18835" y="485290"/>
                    <a:pt x="12315" y="482589"/>
                    <a:pt x="7508" y="477782"/>
                  </a:cubicBezTo>
                  <a:cubicBezTo>
                    <a:pt x="2701" y="472975"/>
                    <a:pt x="0" y="466455"/>
                    <a:pt x="0" y="459657"/>
                  </a:cubicBezTo>
                  <a:lnTo>
                    <a:pt x="0" y="25633"/>
                  </a:lnTo>
                  <a:cubicBezTo>
                    <a:pt x="0" y="18835"/>
                    <a:pt x="2701" y="12315"/>
                    <a:pt x="7508" y="7508"/>
                  </a:cubicBezTo>
                  <a:cubicBezTo>
                    <a:pt x="12315" y="2701"/>
                    <a:pt x="18835" y="0"/>
                    <a:pt x="2563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8700" r="0" b="-187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18052" y="0"/>
            <a:ext cx="8669948" cy="10287000"/>
            <a:chOff x="0" y="0"/>
            <a:chExt cx="949883" cy="11270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49883" cy="1127048"/>
            </a:xfrm>
            <a:custGeom>
              <a:avLst/>
              <a:gdLst/>
              <a:ahLst/>
              <a:cxnLst/>
              <a:rect r="r" b="b" t="t" l="l"/>
              <a:pathLst>
                <a:path h="1127048" w="949883">
                  <a:moveTo>
                    <a:pt x="22324" y="0"/>
                  </a:moveTo>
                  <a:lnTo>
                    <a:pt x="927559" y="0"/>
                  </a:lnTo>
                  <a:cubicBezTo>
                    <a:pt x="939889" y="0"/>
                    <a:pt x="949883" y="9995"/>
                    <a:pt x="949883" y="22324"/>
                  </a:cubicBezTo>
                  <a:lnTo>
                    <a:pt x="949883" y="1104724"/>
                  </a:lnTo>
                  <a:cubicBezTo>
                    <a:pt x="949883" y="1117054"/>
                    <a:pt x="939889" y="1127048"/>
                    <a:pt x="927559" y="1127048"/>
                  </a:cubicBezTo>
                  <a:lnTo>
                    <a:pt x="22324" y="1127048"/>
                  </a:lnTo>
                  <a:cubicBezTo>
                    <a:pt x="9995" y="1127048"/>
                    <a:pt x="0" y="1117054"/>
                    <a:pt x="0" y="1104724"/>
                  </a:cubicBezTo>
                  <a:lnTo>
                    <a:pt x="0" y="22324"/>
                  </a:lnTo>
                  <a:cubicBezTo>
                    <a:pt x="0" y="9995"/>
                    <a:pt x="9995" y="0"/>
                    <a:pt x="22324" y="0"/>
                  </a:cubicBezTo>
                  <a:close/>
                </a:path>
              </a:pathLst>
            </a:custGeom>
            <a:blipFill>
              <a:blip r:embed="rId3"/>
              <a:stretch>
                <a:fillRect l="-9325" t="0" r="-9325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916233"/>
            <a:ext cx="6869556" cy="959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90"/>
              </a:lnSpc>
            </a:pPr>
            <a:r>
              <a:rPr lang="en-US" b="true" sz="5350">
                <a:solidFill>
                  <a:srgbClr val="00133B"/>
                </a:solidFill>
                <a:latin typeface="Poppins Bold"/>
                <a:ea typeface="Poppins Bold"/>
                <a:cs typeface="Poppins Bold"/>
                <a:sym typeface="Poppins Bold"/>
              </a:rPr>
              <a:t>¿Qué es Langfuse?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8404" y="2598257"/>
            <a:ext cx="7821100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Pl</a:t>
            </a:r>
            <a:r>
              <a:rPr lang="en-US" sz="2499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ataforma de observabilidad e ingeniería (open-source).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Diseñada específicamente para aplicaciones impulsadas por LLMs (Modelos de Lenguaje Grande).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Su objetivo: Hacer que la IA pase de ser una "caja negra" a un sistema transparente y medible.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273243" cy="10287000"/>
            <a:chOff x="0" y="0"/>
            <a:chExt cx="687299" cy="11270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7299" cy="1127048"/>
            </a:xfrm>
            <a:custGeom>
              <a:avLst/>
              <a:gdLst/>
              <a:ahLst/>
              <a:cxnLst/>
              <a:rect r="r" b="b" t="t" l="l"/>
              <a:pathLst>
                <a:path h="1127048" w="687299">
                  <a:moveTo>
                    <a:pt x="30853" y="0"/>
                  </a:moveTo>
                  <a:lnTo>
                    <a:pt x="656446" y="0"/>
                  </a:lnTo>
                  <a:cubicBezTo>
                    <a:pt x="664629" y="0"/>
                    <a:pt x="672477" y="3251"/>
                    <a:pt x="678263" y="9037"/>
                  </a:cubicBezTo>
                  <a:cubicBezTo>
                    <a:pt x="684049" y="14823"/>
                    <a:pt x="687299" y="22670"/>
                    <a:pt x="687299" y="30853"/>
                  </a:cubicBezTo>
                  <a:lnTo>
                    <a:pt x="687299" y="1096195"/>
                  </a:lnTo>
                  <a:cubicBezTo>
                    <a:pt x="687299" y="1104378"/>
                    <a:pt x="684049" y="1112226"/>
                    <a:pt x="678263" y="1118012"/>
                  </a:cubicBezTo>
                  <a:cubicBezTo>
                    <a:pt x="672477" y="1123798"/>
                    <a:pt x="664629" y="1127048"/>
                    <a:pt x="656446" y="1127048"/>
                  </a:cubicBezTo>
                  <a:lnTo>
                    <a:pt x="30853" y="1127048"/>
                  </a:lnTo>
                  <a:cubicBezTo>
                    <a:pt x="22670" y="1127048"/>
                    <a:pt x="14823" y="1123798"/>
                    <a:pt x="9037" y="1118012"/>
                  </a:cubicBezTo>
                  <a:cubicBezTo>
                    <a:pt x="3251" y="1112226"/>
                    <a:pt x="0" y="1104378"/>
                    <a:pt x="0" y="1096195"/>
                  </a:cubicBezTo>
                  <a:lnTo>
                    <a:pt x="0" y="30853"/>
                  </a:lnTo>
                  <a:cubicBezTo>
                    <a:pt x="0" y="22670"/>
                    <a:pt x="3251" y="14823"/>
                    <a:pt x="9037" y="9037"/>
                  </a:cubicBezTo>
                  <a:cubicBezTo>
                    <a:pt x="14823" y="3251"/>
                    <a:pt x="22670" y="0"/>
                    <a:pt x="30853" y="0"/>
                  </a:cubicBezTo>
                  <a:close/>
                </a:path>
              </a:pathLst>
            </a:custGeom>
            <a:blipFill>
              <a:blip r:embed="rId2"/>
              <a:stretch>
                <a:fillRect l="-31991" t="0" r="-3199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561825" y="1028700"/>
            <a:ext cx="6480717" cy="8229600"/>
            <a:chOff x="0" y="0"/>
            <a:chExt cx="1004033" cy="12749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4033" cy="1274980"/>
            </a:xfrm>
            <a:custGeom>
              <a:avLst/>
              <a:gdLst/>
              <a:ahLst/>
              <a:cxnLst/>
              <a:rect r="r" b="b" t="t" l="l"/>
              <a:pathLst>
                <a:path h="1274980" w="1004033">
                  <a:moveTo>
                    <a:pt x="47784" y="0"/>
                  </a:moveTo>
                  <a:lnTo>
                    <a:pt x="956248" y="0"/>
                  </a:lnTo>
                  <a:cubicBezTo>
                    <a:pt x="982639" y="0"/>
                    <a:pt x="1004033" y="21394"/>
                    <a:pt x="1004033" y="47784"/>
                  </a:cubicBezTo>
                  <a:lnTo>
                    <a:pt x="1004033" y="1227196"/>
                  </a:lnTo>
                  <a:cubicBezTo>
                    <a:pt x="1004033" y="1239869"/>
                    <a:pt x="998998" y="1252023"/>
                    <a:pt x="990037" y="1260985"/>
                  </a:cubicBezTo>
                  <a:cubicBezTo>
                    <a:pt x="981076" y="1269946"/>
                    <a:pt x="968921" y="1274980"/>
                    <a:pt x="956248" y="1274980"/>
                  </a:cubicBezTo>
                  <a:lnTo>
                    <a:pt x="47784" y="1274980"/>
                  </a:lnTo>
                  <a:cubicBezTo>
                    <a:pt x="21394" y="1274980"/>
                    <a:pt x="0" y="1253587"/>
                    <a:pt x="0" y="1227196"/>
                  </a:cubicBezTo>
                  <a:lnTo>
                    <a:pt x="0" y="47784"/>
                  </a:lnTo>
                  <a:cubicBezTo>
                    <a:pt x="0" y="21394"/>
                    <a:pt x="21394" y="0"/>
                    <a:pt x="47784" y="0"/>
                  </a:cubicBezTo>
                  <a:close/>
                </a:path>
              </a:pathLst>
            </a:custGeom>
            <a:blipFill>
              <a:blip r:embed="rId3"/>
              <a:stretch>
                <a:fillRect l="-1349" t="0" r="-1349" b="0"/>
              </a:stretch>
            </a:blipFill>
            <a:ln w="11430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AutoShape 6" id="6"/>
          <p:cNvSpPr/>
          <p:nvPr/>
        </p:nvSpPr>
        <p:spPr>
          <a:xfrm flipH="true">
            <a:off x="10519962" y="4462224"/>
            <a:ext cx="3170" cy="2965547"/>
          </a:xfrm>
          <a:prstGeom prst="line">
            <a:avLst/>
          </a:prstGeom>
          <a:ln cap="flat" w="38100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0287407" y="4229580"/>
            <a:ext cx="465110" cy="46511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349312" y="4272895"/>
            <a:ext cx="334186" cy="33418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133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3851" y="7134241"/>
            <a:ext cx="465110" cy="46511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349312" y="7199703"/>
            <a:ext cx="334186" cy="33418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133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287407" y="857250"/>
            <a:ext cx="6971893" cy="2240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814"/>
              </a:lnSpc>
            </a:pPr>
            <a:r>
              <a:rPr lang="en-US" b="true" sz="6295">
                <a:solidFill>
                  <a:srgbClr val="00133B"/>
                </a:solidFill>
                <a:latin typeface="Poppins Bold"/>
                <a:ea typeface="Poppins Bold"/>
                <a:cs typeface="Poppins Bold"/>
                <a:sym typeface="Poppins Bold"/>
              </a:rPr>
              <a:t>¿Qué</a:t>
            </a:r>
            <a:r>
              <a:rPr lang="en-US" b="true" sz="6295">
                <a:solidFill>
                  <a:srgbClr val="00133B"/>
                </a:solidFill>
                <a:latin typeface="Poppins Bold"/>
                <a:ea typeface="Poppins Bold"/>
                <a:cs typeface="Poppins Bold"/>
                <a:sym typeface="Poppins Bold"/>
              </a:rPr>
              <a:t> problema resuelve?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43790" y="5105400"/>
            <a:ext cx="6115510" cy="184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¿P</a:t>
            </a:r>
            <a:r>
              <a:rPr lang="en-US" sz="2100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or qué la IA ha dado una mala respuesta?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¿Cuánto nos está costando cada usuario en tokens?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¿Dónde está el cuello de botella en la velocidad (latencia)?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143790" y="7718306"/>
            <a:ext cx="6115510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000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razabilidad completa (Tracing) para entender el flujo de ejecución paso a paso.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143790" y="4225270"/>
            <a:ext cx="6115510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b="true" sz="2000">
                <a:solidFill>
                  <a:srgbClr val="4340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Problema:</a:t>
            </a:r>
            <a:r>
              <a:rPr lang="en-US" sz="2000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 Las aplicaci</a:t>
            </a:r>
            <a:r>
              <a:rPr lang="en-US" sz="2000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ones con IA son impredecibles.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43790" y="7168359"/>
            <a:ext cx="305775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b="true" sz="2000">
                <a:solidFill>
                  <a:srgbClr val="4340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</a:t>
            </a:r>
            <a:r>
              <a:rPr lang="en-US" b="true" sz="2000">
                <a:solidFill>
                  <a:srgbClr val="4340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olución: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198146"/>
            <a:ext cx="18288000" cy="4088854"/>
            <a:chOff x="0" y="0"/>
            <a:chExt cx="2003642" cy="4479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03641" cy="447977"/>
            </a:xfrm>
            <a:custGeom>
              <a:avLst/>
              <a:gdLst/>
              <a:ahLst/>
              <a:cxnLst/>
              <a:rect r="r" b="b" t="t" l="l"/>
              <a:pathLst>
                <a:path h="447977" w="2003641">
                  <a:moveTo>
                    <a:pt x="10583" y="0"/>
                  </a:moveTo>
                  <a:lnTo>
                    <a:pt x="1993058" y="0"/>
                  </a:lnTo>
                  <a:cubicBezTo>
                    <a:pt x="1995865" y="0"/>
                    <a:pt x="1998557" y="1115"/>
                    <a:pt x="2000542" y="3100"/>
                  </a:cubicBezTo>
                  <a:cubicBezTo>
                    <a:pt x="2002526" y="5085"/>
                    <a:pt x="2003641" y="7776"/>
                    <a:pt x="2003641" y="10583"/>
                  </a:cubicBezTo>
                  <a:lnTo>
                    <a:pt x="2003641" y="437393"/>
                  </a:lnTo>
                  <a:cubicBezTo>
                    <a:pt x="2003641" y="440200"/>
                    <a:pt x="2002526" y="442892"/>
                    <a:pt x="2000542" y="444877"/>
                  </a:cubicBezTo>
                  <a:cubicBezTo>
                    <a:pt x="1998557" y="446862"/>
                    <a:pt x="1995865" y="447977"/>
                    <a:pt x="1993058" y="447977"/>
                  </a:cubicBezTo>
                  <a:lnTo>
                    <a:pt x="10583" y="447977"/>
                  </a:lnTo>
                  <a:cubicBezTo>
                    <a:pt x="7776" y="447977"/>
                    <a:pt x="5085" y="446862"/>
                    <a:pt x="3100" y="444877"/>
                  </a:cubicBezTo>
                  <a:cubicBezTo>
                    <a:pt x="1115" y="442892"/>
                    <a:pt x="0" y="440200"/>
                    <a:pt x="0" y="437393"/>
                  </a:cubicBezTo>
                  <a:lnTo>
                    <a:pt x="0" y="10583"/>
                  </a:lnTo>
                  <a:cubicBezTo>
                    <a:pt x="0" y="7776"/>
                    <a:pt x="1115" y="5085"/>
                    <a:pt x="3100" y="3100"/>
                  </a:cubicBezTo>
                  <a:cubicBezTo>
                    <a:pt x="5085" y="1115"/>
                    <a:pt x="7776" y="0"/>
                    <a:pt x="1058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73632" r="0" b="-17363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30565" y="4562215"/>
            <a:ext cx="4704284" cy="4887215"/>
            <a:chOff x="0" y="0"/>
            <a:chExt cx="1238988" cy="12871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38988" cy="1287168"/>
            </a:xfrm>
            <a:custGeom>
              <a:avLst/>
              <a:gdLst/>
              <a:ahLst/>
              <a:cxnLst/>
              <a:rect r="r" b="b" t="t" l="l"/>
              <a:pathLst>
                <a:path h="1287168" w="1238988">
                  <a:moveTo>
                    <a:pt x="65829" y="0"/>
                  </a:moveTo>
                  <a:lnTo>
                    <a:pt x="1173160" y="0"/>
                  </a:lnTo>
                  <a:cubicBezTo>
                    <a:pt x="1190619" y="0"/>
                    <a:pt x="1207362" y="6936"/>
                    <a:pt x="1219708" y="19281"/>
                  </a:cubicBezTo>
                  <a:cubicBezTo>
                    <a:pt x="1232053" y="31626"/>
                    <a:pt x="1238988" y="48370"/>
                    <a:pt x="1238988" y="65829"/>
                  </a:cubicBezTo>
                  <a:lnTo>
                    <a:pt x="1238988" y="1221339"/>
                  </a:lnTo>
                  <a:cubicBezTo>
                    <a:pt x="1238988" y="1257695"/>
                    <a:pt x="1209516" y="1287168"/>
                    <a:pt x="1173160" y="1287168"/>
                  </a:cubicBezTo>
                  <a:lnTo>
                    <a:pt x="65829" y="1287168"/>
                  </a:lnTo>
                  <a:cubicBezTo>
                    <a:pt x="48370" y="1287168"/>
                    <a:pt x="31626" y="1280232"/>
                    <a:pt x="19281" y="1267887"/>
                  </a:cubicBezTo>
                  <a:cubicBezTo>
                    <a:pt x="6936" y="1255542"/>
                    <a:pt x="0" y="1238798"/>
                    <a:pt x="0" y="1221339"/>
                  </a:cubicBezTo>
                  <a:lnTo>
                    <a:pt x="0" y="65829"/>
                  </a:lnTo>
                  <a:cubicBezTo>
                    <a:pt x="0" y="29473"/>
                    <a:pt x="29473" y="0"/>
                    <a:pt x="65829" y="0"/>
                  </a:cubicBezTo>
                  <a:close/>
                </a:path>
              </a:pathLst>
            </a:custGeom>
            <a:solidFill>
              <a:srgbClr val="00133B"/>
            </a:solidFill>
            <a:ln w="1143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238988" cy="1334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91858" y="4562215"/>
            <a:ext cx="4704284" cy="4887215"/>
            <a:chOff x="0" y="0"/>
            <a:chExt cx="1238988" cy="12871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38988" cy="1287168"/>
            </a:xfrm>
            <a:custGeom>
              <a:avLst/>
              <a:gdLst/>
              <a:ahLst/>
              <a:cxnLst/>
              <a:rect r="r" b="b" t="t" l="l"/>
              <a:pathLst>
                <a:path h="1287168" w="1238988">
                  <a:moveTo>
                    <a:pt x="65829" y="0"/>
                  </a:moveTo>
                  <a:lnTo>
                    <a:pt x="1173160" y="0"/>
                  </a:lnTo>
                  <a:cubicBezTo>
                    <a:pt x="1190619" y="0"/>
                    <a:pt x="1207362" y="6936"/>
                    <a:pt x="1219708" y="19281"/>
                  </a:cubicBezTo>
                  <a:cubicBezTo>
                    <a:pt x="1232053" y="31626"/>
                    <a:pt x="1238988" y="48370"/>
                    <a:pt x="1238988" y="65829"/>
                  </a:cubicBezTo>
                  <a:lnTo>
                    <a:pt x="1238988" y="1221339"/>
                  </a:lnTo>
                  <a:cubicBezTo>
                    <a:pt x="1238988" y="1257695"/>
                    <a:pt x="1209516" y="1287168"/>
                    <a:pt x="1173160" y="1287168"/>
                  </a:cubicBezTo>
                  <a:lnTo>
                    <a:pt x="65829" y="1287168"/>
                  </a:lnTo>
                  <a:cubicBezTo>
                    <a:pt x="48370" y="1287168"/>
                    <a:pt x="31626" y="1280232"/>
                    <a:pt x="19281" y="1267887"/>
                  </a:cubicBezTo>
                  <a:cubicBezTo>
                    <a:pt x="6936" y="1255542"/>
                    <a:pt x="0" y="1238798"/>
                    <a:pt x="0" y="1221339"/>
                  </a:cubicBezTo>
                  <a:lnTo>
                    <a:pt x="0" y="65829"/>
                  </a:lnTo>
                  <a:cubicBezTo>
                    <a:pt x="0" y="29473"/>
                    <a:pt x="29473" y="0"/>
                    <a:pt x="65829" y="0"/>
                  </a:cubicBezTo>
                  <a:close/>
                </a:path>
              </a:pathLst>
            </a:custGeom>
            <a:solidFill>
              <a:srgbClr val="00133B"/>
            </a:solidFill>
            <a:ln w="1143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238988" cy="1334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248617" y="4562215"/>
            <a:ext cx="4704284" cy="4887215"/>
            <a:chOff x="0" y="0"/>
            <a:chExt cx="1238988" cy="12871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8988" cy="1287168"/>
            </a:xfrm>
            <a:custGeom>
              <a:avLst/>
              <a:gdLst/>
              <a:ahLst/>
              <a:cxnLst/>
              <a:rect r="r" b="b" t="t" l="l"/>
              <a:pathLst>
                <a:path h="1287168" w="1238988">
                  <a:moveTo>
                    <a:pt x="65829" y="0"/>
                  </a:moveTo>
                  <a:lnTo>
                    <a:pt x="1173160" y="0"/>
                  </a:lnTo>
                  <a:cubicBezTo>
                    <a:pt x="1190619" y="0"/>
                    <a:pt x="1207362" y="6936"/>
                    <a:pt x="1219708" y="19281"/>
                  </a:cubicBezTo>
                  <a:cubicBezTo>
                    <a:pt x="1232053" y="31626"/>
                    <a:pt x="1238988" y="48370"/>
                    <a:pt x="1238988" y="65829"/>
                  </a:cubicBezTo>
                  <a:lnTo>
                    <a:pt x="1238988" y="1221339"/>
                  </a:lnTo>
                  <a:cubicBezTo>
                    <a:pt x="1238988" y="1257695"/>
                    <a:pt x="1209516" y="1287168"/>
                    <a:pt x="1173160" y="1287168"/>
                  </a:cubicBezTo>
                  <a:lnTo>
                    <a:pt x="65829" y="1287168"/>
                  </a:lnTo>
                  <a:cubicBezTo>
                    <a:pt x="48370" y="1287168"/>
                    <a:pt x="31626" y="1280232"/>
                    <a:pt x="19281" y="1267887"/>
                  </a:cubicBezTo>
                  <a:cubicBezTo>
                    <a:pt x="6936" y="1255542"/>
                    <a:pt x="0" y="1238798"/>
                    <a:pt x="0" y="1221339"/>
                  </a:cubicBezTo>
                  <a:lnTo>
                    <a:pt x="0" y="65829"/>
                  </a:lnTo>
                  <a:cubicBezTo>
                    <a:pt x="0" y="29473"/>
                    <a:pt x="29473" y="0"/>
                    <a:pt x="65829" y="0"/>
                  </a:cubicBezTo>
                  <a:close/>
                </a:path>
              </a:pathLst>
            </a:custGeom>
            <a:solidFill>
              <a:srgbClr val="00133B"/>
            </a:solidFill>
            <a:ln w="1143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38988" cy="1334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500959" y="3380468"/>
            <a:ext cx="2363494" cy="236349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  <a:ln w="1143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7962253" y="3380468"/>
            <a:ext cx="2363494" cy="236349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  <a:ln w="1143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3419012" y="3380468"/>
            <a:ext cx="2363494" cy="236349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  <a:ln w="1143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4473157" y="885825"/>
            <a:ext cx="9341687" cy="178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</a:pPr>
            <a:r>
              <a:rPr lang="en-US" b="true" sz="5000">
                <a:solidFill>
                  <a:srgbClr val="00133B"/>
                </a:solidFill>
                <a:latin typeface="Poppins Bold"/>
                <a:ea typeface="Poppins Bold"/>
                <a:cs typeface="Poppins Bold"/>
                <a:sym typeface="Poppins Bold"/>
              </a:rPr>
              <a:t>Funciones Principales de Langfuse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44075" y="6140996"/>
            <a:ext cx="2677264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40"/>
              </a:lnSpc>
            </a:pPr>
            <a:r>
              <a:rPr lang="en-US" b="true" sz="26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Tracing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4465" y="5992672"/>
            <a:ext cx="3179070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40"/>
              </a:lnSpc>
            </a:pPr>
            <a:r>
              <a:rPr lang="en-US" b="true" sz="26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Métricas de Coste y Latencia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262127" y="5992672"/>
            <a:ext cx="2677264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40"/>
              </a:lnSpc>
            </a:pPr>
            <a:r>
              <a:rPr lang="en-US" b="true" sz="26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Gestión de Prompts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39288" y="6850557"/>
            <a:ext cx="3686837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Seguimiento detallado de cada llamada al LLM para análisis profundo y depuración efectiva.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303562" y="7155357"/>
            <a:ext cx="3680876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Monitorización en tiempo real para optimización de recursos y control del gasto en APIs.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772267" y="7155357"/>
            <a:ext cx="3656985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Versionado y mejora continua de los prompts utilizados en producción.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198146"/>
            <a:ext cx="18288000" cy="4088854"/>
            <a:chOff x="0" y="0"/>
            <a:chExt cx="2003642" cy="4479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03641" cy="447977"/>
            </a:xfrm>
            <a:custGeom>
              <a:avLst/>
              <a:gdLst/>
              <a:ahLst/>
              <a:cxnLst/>
              <a:rect r="r" b="b" t="t" l="l"/>
              <a:pathLst>
                <a:path h="447977" w="2003641">
                  <a:moveTo>
                    <a:pt x="10583" y="0"/>
                  </a:moveTo>
                  <a:lnTo>
                    <a:pt x="1993058" y="0"/>
                  </a:lnTo>
                  <a:cubicBezTo>
                    <a:pt x="1995865" y="0"/>
                    <a:pt x="1998557" y="1115"/>
                    <a:pt x="2000542" y="3100"/>
                  </a:cubicBezTo>
                  <a:cubicBezTo>
                    <a:pt x="2002526" y="5085"/>
                    <a:pt x="2003641" y="7776"/>
                    <a:pt x="2003641" y="10583"/>
                  </a:cubicBezTo>
                  <a:lnTo>
                    <a:pt x="2003641" y="437393"/>
                  </a:lnTo>
                  <a:cubicBezTo>
                    <a:pt x="2003641" y="440200"/>
                    <a:pt x="2002526" y="442892"/>
                    <a:pt x="2000542" y="444877"/>
                  </a:cubicBezTo>
                  <a:cubicBezTo>
                    <a:pt x="1998557" y="446862"/>
                    <a:pt x="1995865" y="447977"/>
                    <a:pt x="1993058" y="447977"/>
                  </a:cubicBezTo>
                  <a:lnTo>
                    <a:pt x="10583" y="447977"/>
                  </a:lnTo>
                  <a:cubicBezTo>
                    <a:pt x="7776" y="447977"/>
                    <a:pt x="5085" y="446862"/>
                    <a:pt x="3100" y="444877"/>
                  </a:cubicBezTo>
                  <a:cubicBezTo>
                    <a:pt x="1115" y="442892"/>
                    <a:pt x="0" y="440200"/>
                    <a:pt x="0" y="437393"/>
                  </a:cubicBezTo>
                  <a:lnTo>
                    <a:pt x="0" y="10583"/>
                  </a:lnTo>
                  <a:cubicBezTo>
                    <a:pt x="0" y="7776"/>
                    <a:pt x="1115" y="5085"/>
                    <a:pt x="3100" y="3100"/>
                  </a:cubicBezTo>
                  <a:cubicBezTo>
                    <a:pt x="5085" y="1115"/>
                    <a:pt x="7776" y="0"/>
                    <a:pt x="1058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73632" r="0" b="-17363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38027" y="4562215"/>
            <a:ext cx="3537244" cy="4887215"/>
            <a:chOff x="0" y="0"/>
            <a:chExt cx="931620" cy="12871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1620" cy="1287168"/>
            </a:xfrm>
            <a:custGeom>
              <a:avLst/>
              <a:gdLst/>
              <a:ahLst/>
              <a:cxnLst/>
              <a:rect r="r" b="b" t="t" l="l"/>
              <a:pathLst>
                <a:path h="1287168" w="931620">
                  <a:moveTo>
                    <a:pt x="87547" y="0"/>
                  </a:moveTo>
                  <a:lnTo>
                    <a:pt x="844072" y="0"/>
                  </a:lnTo>
                  <a:cubicBezTo>
                    <a:pt x="867291" y="0"/>
                    <a:pt x="889559" y="9224"/>
                    <a:pt x="905978" y="25642"/>
                  </a:cubicBezTo>
                  <a:cubicBezTo>
                    <a:pt x="922396" y="42060"/>
                    <a:pt x="931620" y="64328"/>
                    <a:pt x="931620" y="87547"/>
                  </a:cubicBezTo>
                  <a:lnTo>
                    <a:pt x="931620" y="1199620"/>
                  </a:lnTo>
                  <a:cubicBezTo>
                    <a:pt x="931620" y="1247971"/>
                    <a:pt x="892423" y="1287168"/>
                    <a:pt x="844072" y="1287168"/>
                  </a:cubicBezTo>
                  <a:lnTo>
                    <a:pt x="87547" y="1287168"/>
                  </a:lnTo>
                  <a:cubicBezTo>
                    <a:pt x="64328" y="1287168"/>
                    <a:pt x="42060" y="1277944"/>
                    <a:pt x="25642" y="1261526"/>
                  </a:cubicBezTo>
                  <a:cubicBezTo>
                    <a:pt x="9224" y="1245107"/>
                    <a:pt x="0" y="1222839"/>
                    <a:pt x="0" y="1199620"/>
                  </a:cubicBezTo>
                  <a:lnTo>
                    <a:pt x="0" y="87547"/>
                  </a:lnTo>
                  <a:cubicBezTo>
                    <a:pt x="0" y="64328"/>
                    <a:pt x="9224" y="42060"/>
                    <a:pt x="25642" y="25642"/>
                  </a:cubicBezTo>
                  <a:cubicBezTo>
                    <a:pt x="42060" y="9224"/>
                    <a:pt x="64328" y="0"/>
                    <a:pt x="87547" y="0"/>
                  </a:cubicBezTo>
                  <a:close/>
                </a:path>
              </a:pathLst>
            </a:custGeom>
            <a:solidFill>
              <a:srgbClr val="00133B"/>
            </a:solidFill>
            <a:ln w="1143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931620" cy="1334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24901" y="3380468"/>
            <a:ext cx="2363494" cy="236349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  <a:ln w="1143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156738" y="4562215"/>
            <a:ext cx="3537244" cy="4887215"/>
            <a:chOff x="0" y="0"/>
            <a:chExt cx="931620" cy="12871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1620" cy="1287168"/>
            </a:xfrm>
            <a:custGeom>
              <a:avLst/>
              <a:gdLst/>
              <a:ahLst/>
              <a:cxnLst/>
              <a:rect r="r" b="b" t="t" l="l"/>
              <a:pathLst>
                <a:path h="1287168" w="931620">
                  <a:moveTo>
                    <a:pt x="87547" y="0"/>
                  </a:moveTo>
                  <a:lnTo>
                    <a:pt x="844072" y="0"/>
                  </a:lnTo>
                  <a:cubicBezTo>
                    <a:pt x="867291" y="0"/>
                    <a:pt x="889559" y="9224"/>
                    <a:pt x="905978" y="25642"/>
                  </a:cubicBezTo>
                  <a:cubicBezTo>
                    <a:pt x="922396" y="42060"/>
                    <a:pt x="931620" y="64328"/>
                    <a:pt x="931620" y="87547"/>
                  </a:cubicBezTo>
                  <a:lnTo>
                    <a:pt x="931620" y="1199620"/>
                  </a:lnTo>
                  <a:cubicBezTo>
                    <a:pt x="931620" y="1247971"/>
                    <a:pt x="892423" y="1287168"/>
                    <a:pt x="844072" y="1287168"/>
                  </a:cubicBezTo>
                  <a:lnTo>
                    <a:pt x="87547" y="1287168"/>
                  </a:lnTo>
                  <a:cubicBezTo>
                    <a:pt x="64328" y="1287168"/>
                    <a:pt x="42060" y="1277944"/>
                    <a:pt x="25642" y="1261526"/>
                  </a:cubicBezTo>
                  <a:cubicBezTo>
                    <a:pt x="9224" y="1245107"/>
                    <a:pt x="0" y="1222839"/>
                    <a:pt x="0" y="1199620"/>
                  </a:cubicBezTo>
                  <a:lnTo>
                    <a:pt x="0" y="87547"/>
                  </a:lnTo>
                  <a:cubicBezTo>
                    <a:pt x="0" y="64328"/>
                    <a:pt x="9224" y="42060"/>
                    <a:pt x="25642" y="25642"/>
                  </a:cubicBezTo>
                  <a:cubicBezTo>
                    <a:pt x="42060" y="9224"/>
                    <a:pt x="64328" y="0"/>
                    <a:pt x="87547" y="0"/>
                  </a:cubicBezTo>
                  <a:close/>
                </a:path>
              </a:pathLst>
            </a:custGeom>
            <a:solidFill>
              <a:srgbClr val="00133B"/>
            </a:solidFill>
            <a:ln w="1143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931620" cy="1334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743613" y="3380468"/>
            <a:ext cx="2363494" cy="236349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  <a:ln w="1143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4473157" y="885825"/>
            <a:ext cx="9341687" cy="178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</a:pPr>
            <a:r>
              <a:rPr lang="en-US" b="true" sz="5000">
                <a:solidFill>
                  <a:srgbClr val="00133B"/>
                </a:solidFill>
                <a:latin typeface="Poppins Bold"/>
                <a:ea typeface="Poppins Bold"/>
                <a:cs typeface="Poppins Bold"/>
                <a:sym typeface="Poppins Bold"/>
              </a:rPr>
              <a:t>Arquitectura Técnica del Pipeline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8016" y="6430046"/>
            <a:ext cx="2677264" cy="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43"/>
              </a:lnSpc>
            </a:pPr>
            <a:r>
              <a:rPr lang="en-US" b="true" sz="174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Integración (</a:t>
            </a:r>
            <a:r>
              <a:rPr lang="en-US" b="true" sz="174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SDK)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29214" y="6965061"/>
            <a:ext cx="2554868" cy="505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35"/>
              </a:lnSpc>
            </a:pPr>
            <a:r>
              <a:rPr lang="en-US" sz="145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145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ódigo ligero en la aplicación (Python/JS)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675056" y="4562215"/>
            <a:ext cx="3537244" cy="4887215"/>
            <a:chOff x="0" y="0"/>
            <a:chExt cx="931620" cy="12871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31620" cy="1287168"/>
            </a:xfrm>
            <a:custGeom>
              <a:avLst/>
              <a:gdLst/>
              <a:ahLst/>
              <a:cxnLst/>
              <a:rect r="r" b="b" t="t" l="l"/>
              <a:pathLst>
                <a:path h="1287168" w="931620">
                  <a:moveTo>
                    <a:pt x="87547" y="0"/>
                  </a:moveTo>
                  <a:lnTo>
                    <a:pt x="844072" y="0"/>
                  </a:lnTo>
                  <a:cubicBezTo>
                    <a:pt x="867291" y="0"/>
                    <a:pt x="889559" y="9224"/>
                    <a:pt x="905978" y="25642"/>
                  </a:cubicBezTo>
                  <a:cubicBezTo>
                    <a:pt x="922396" y="42060"/>
                    <a:pt x="931620" y="64328"/>
                    <a:pt x="931620" y="87547"/>
                  </a:cubicBezTo>
                  <a:lnTo>
                    <a:pt x="931620" y="1199620"/>
                  </a:lnTo>
                  <a:cubicBezTo>
                    <a:pt x="931620" y="1247971"/>
                    <a:pt x="892423" y="1287168"/>
                    <a:pt x="844072" y="1287168"/>
                  </a:cubicBezTo>
                  <a:lnTo>
                    <a:pt x="87547" y="1287168"/>
                  </a:lnTo>
                  <a:cubicBezTo>
                    <a:pt x="64328" y="1287168"/>
                    <a:pt x="42060" y="1277944"/>
                    <a:pt x="25642" y="1261526"/>
                  </a:cubicBezTo>
                  <a:cubicBezTo>
                    <a:pt x="9224" y="1245107"/>
                    <a:pt x="0" y="1222839"/>
                    <a:pt x="0" y="1199620"/>
                  </a:cubicBezTo>
                  <a:lnTo>
                    <a:pt x="0" y="87547"/>
                  </a:lnTo>
                  <a:cubicBezTo>
                    <a:pt x="0" y="64328"/>
                    <a:pt x="9224" y="42060"/>
                    <a:pt x="25642" y="25642"/>
                  </a:cubicBezTo>
                  <a:cubicBezTo>
                    <a:pt x="42060" y="9224"/>
                    <a:pt x="64328" y="0"/>
                    <a:pt x="87547" y="0"/>
                  </a:cubicBezTo>
                  <a:close/>
                </a:path>
              </a:pathLst>
            </a:custGeom>
            <a:solidFill>
              <a:srgbClr val="00133B"/>
            </a:solidFill>
            <a:ln w="1143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31620" cy="1334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117568" y="4562215"/>
            <a:ext cx="3537244" cy="4887215"/>
            <a:chOff x="0" y="0"/>
            <a:chExt cx="931620" cy="12871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31620" cy="1287168"/>
            </a:xfrm>
            <a:custGeom>
              <a:avLst/>
              <a:gdLst/>
              <a:ahLst/>
              <a:cxnLst/>
              <a:rect r="r" b="b" t="t" l="l"/>
              <a:pathLst>
                <a:path h="1287168" w="931620">
                  <a:moveTo>
                    <a:pt x="87547" y="0"/>
                  </a:moveTo>
                  <a:lnTo>
                    <a:pt x="844072" y="0"/>
                  </a:lnTo>
                  <a:cubicBezTo>
                    <a:pt x="867291" y="0"/>
                    <a:pt x="889559" y="9224"/>
                    <a:pt x="905978" y="25642"/>
                  </a:cubicBezTo>
                  <a:cubicBezTo>
                    <a:pt x="922396" y="42060"/>
                    <a:pt x="931620" y="64328"/>
                    <a:pt x="931620" y="87547"/>
                  </a:cubicBezTo>
                  <a:lnTo>
                    <a:pt x="931620" y="1199620"/>
                  </a:lnTo>
                  <a:cubicBezTo>
                    <a:pt x="931620" y="1247971"/>
                    <a:pt x="892423" y="1287168"/>
                    <a:pt x="844072" y="1287168"/>
                  </a:cubicBezTo>
                  <a:lnTo>
                    <a:pt x="87547" y="1287168"/>
                  </a:lnTo>
                  <a:cubicBezTo>
                    <a:pt x="64328" y="1287168"/>
                    <a:pt x="42060" y="1277944"/>
                    <a:pt x="25642" y="1261526"/>
                  </a:cubicBezTo>
                  <a:cubicBezTo>
                    <a:pt x="9224" y="1245107"/>
                    <a:pt x="0" y="1222839"/>
                    <a:pt x="0" y="1199620"/>
                  </a:cubicBezTo>
                  <a:lnTo>
                    <a:pt x="0" y="87547"/>
                  </a:lnTo>
                  <a:cubicBezTo>
                    <a:pt x="0" y="64328"/>
                    <a:pt x="9224" y="42060"/>
                    <a:pt x="25642" y="25642"/>
                  </a:cubicBezTo>
                  <a:cubicBezTo>
                    <a:pt x="42060" y="9224"/>
                    <a:pt x="64328" y="0"/>
                    <a:pt x="87547" y="0"/>
                  </a:cubicBezTo>
                  <a:close/>
                </a:path>
              </a:pathLst>
            </a:custGeom>
            <a:solidFill>
              <a:srgbClr val="00133B"/>
            </a:solidFill>
            <a:ln w="1143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31620" cy="1334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65606" y="3380468"/>
            <a:ext cx="2363494" cy="236349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  <a:ln w="1143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5586531" y="6430046"/>
            <a:ext cx="2677264" cy="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43"/>
              </a:lnSpc>
            </a:pPr>
            <a:r>
              <a:rPr lang="en-US" b="true" sz="174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Captura</a:t>
            </a:r>
            <a:r>
              <a:rPr lang="en-US" b="true" sz="174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Asíncrona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103681" y="6430046"/>
            <a:ext cx="2677264" cy="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43"/>
              </a:lnSpc>
            </a:pPr>
            <a:r>
              <a:rPr lang="en-US" b="true" sz="174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Ingesta (API)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547557" y="6430046"/>
            <a:ext cx="2677264" cy="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43"/>
              </a:lnSpc>
            </a:pPr>
            <a:r>
              <a:rPr lang="en-US" b="true" sz="174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</a:t>
            </a:r>
            <a:r>
              <a:rPr lang="en-US" b="true" sz="174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sualización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647926" y="6965061"/>
            <a:ext cx="2554868" cy="763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35"/>
              </a:lnSpc>
            </a:pPr>
            <a:r>
              <a:rPr lang="en-US" sz="145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145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ecolección de datos en segundo plano sin ralentizar la app.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170356" y="6965061"/>
            <a:ext cx="2554868" cy="505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35"/>
              </a:lnSpc>
            </a:pPr>
            <a:r>
              <a:rPr lang="en-US" sz="145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145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nvío seguro de trazas al servidor de Langfuse.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608755" y="6965061"/>
            <a:ext cx="2554868" cy="763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35"/>
              </a:lnSpc>
            </a:pPr>
            <a:r>
              <a:rPr lang="en-US" sz="145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145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rocesamiento y visualización en el Dashboard web.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4704442" y="3380468"/>
            <a:ext cx="2363494" cy="2363494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6352" t="0" r="-6352" b="0"/>
              </a:stretch>
            </a:blipFill>
            <a:ln w="114300" cap="sq">
              <a:solidFill>
                <a:srgbClr val="FFFFFF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87357" y="0"/>
            <a:ext cx="9400643" cy="10287000"/>
            <a:chOff x="0" y="0"/>
            <a:chExt cx="1701799" cy="18622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1799" cy="1862256"/>
            </a:xfrm>
            <a:custGeom>
              <a:avLst/>
              <a:gdLst/>
              <a:ahLst/>
              <a:cxnLst/>
              <a:rect r="r" b="b" t="t" l="l"/>
              <a:pathLst>
                <a:path h="1862256" w="1701799">
                  <a:moveTo>
                    <a:pt x="0" y="0"/>
                  </a:moveTo>
                  <a:lnTo>
                    <a:pt x="1701799" y="0"/>
                  </a:lnTo>
                  <a:lnTo>
                    <a:pt x="1701799" y="1862256"/>
                  </a:lnTo>
                  <a:lnTo>
                    <a:pt x="0" y="1862256"/>
                  </a:lnTo>
                  <a:close/>
                </a:path>
              </a:pathLst>
            </a:custGeom>
            <a:blipFill>
              <a:blip r:embed="rId2"/>
              <a:stretch>
                <a:fillRect l="0" t="-17817" r="0" b="-17817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7851758"/>
            <a:ext cx="11182091" cy="2214274"/>
            <a:chOff x="0" y="0"/>
            <a:chExt cx="2945078" cy="5831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45078" cy="583183"/>
            </a:xfrm>
            <a:custGeom>
              <a:avLst/>
              <a:gdLst/>
              <a:ahLst/>
              <a:cxnLst/>
              <a:rect r="r" b="b" t="t" l="l"/>
              <a:pathLst>
                <a:path h="583183" w="2945078">
                  <a:moveTo>
                    <a:pt x="27694" y="0"/>
                  </a:moveTo>
                  <a:lnTo>
                    <a:pt x="2917384" y="0"/>
                  </a:lnTo>
                  <a:cubicBezTo>
                    <a:pt x="2932679" y="0"/>
                    <a:pt x="2945078" y="12399"/>
                    <a:pt x="2945078" y="27694"/>
                  </a:cubicBezTo>
                  <a:lnTo>
                    <a:pt x="2945078" y="555489"/>
                  </a:lnTo>
                  <a:cubicBezTo>
                    <a:pt x="2945078" y="570784"/>
                    <a:pt x="2932679" y="583183"/>
                    <a:pt x="2917384" y="583183"/>
                  </a:cubicBezTo>
                  <a:lnTo>
                    <a:pt x="27694" y="583183"/>
                  </a:lnTo>
                  <a:cubicBezTo>
                    <a:pt x="12399" y="583183"/>
                    <a:pt x="0" y="570784"/>
                    <a:pt x="0" y="555489"/>
                  </a:cubicBezTo>
                  <a:lnTo>
                    <a:pt x="0" y="27694"/>
                  </a:lnTo>
                  <a:cubicBezTo>
                    <a:pt x="0" y="12399"/>
                    <a:pt x="12399" y="0"/>
                    <a:pt x="27694" y="0"/>
                  </a:cubicBezTo>
                  <a:close/>
                </a:path>
              </a:pathLst>
            </a:custGeom>
            <a:solidFill>
              <a:srgbClr val="00133B"/>
            </a:solidFill>
            <a:ln w="1143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945078" cy="630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857250"/>
            <a:ext cx="6683611" cy="2240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14"/>
              </a:lnSpc>
            </a:pPr>
            <a:r>
              <a:rPr lang="en-US" b="true" sz="629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Casos de Uso Destacados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55386" y="8229886"/>
            <a:ext cx="370993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Aplicaciones Prácticas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25751" y="3861891"/>
            <a:ext cx="5486560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</a:pPr>
            <a:r>
              <a:rPr lang="en-US" sz="1800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Depuración de RAG (Generación Aumentada por Recuperación): Ver qué documentos exactos se le pasaron a la IA antes de que respondiera.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55386" y="8882492"/>
            <a:ext cx="8422315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Estas aplicaciones prácticas demuestran cómo Langfuse aporta valor real en entornos de producción de IA generativa.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3908483"/>
            <a:ext cx="943132" cy="861222"/>
            <a:chOff x="0" y="0"/>
            <a:chExt cx="1257509" cy="1148296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257509" cy="1148296"/>
              <a:chOff x="0" y="0"/>
              <a:chExt cx="812800" cy="74220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742209"/>
              </a:xfrm>
              <a:custGeom>
                <a:avLst/>
                <a:gdLst/>
                <a:ahLst/>
                <a:cxnLst/>
                <a:rect r="r" b="b" t="t" l="l"/>
                <a:pathLst>
                  <a:path h="742209" w="812800">
                    <a:moveTo>
                      <a:pt x="406400" y="0"/>
                    </a:moveTo>
                    <a:cubicBezTo>
                      <a:pt x="181951" y="0"/>
                      <a:pt x="0" y="166149"/>
                      <a:pt x="0" y="371105"/>
                    </a:cubicBezTo>
                    <a:cubicBezTo>
                      <a:pt x="0" y="576060"/>
                      <a:pt x="181951" y="742209"/>
                      <a:pt x="406400" y="742209"/>
                    </a:cubicBezTo>
                    <a:cubicBezTo>
                      <a:pt x="630849" y="742209"/>
                      <a:pt x="812800" y="576060"/>
                      <a:pt x="812800" y="371105"/>
                    </a:cubicBezTo>
                    <a:cubicBezTo>
                      <a:pt x="812800" y="166149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8ADB1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21957"/>
                <a:ext cx="660400" cy="6506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125716" y="340888"/>
              <a:ext cx="1006076" cy="428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64"/>
                </a:lnSpc>
              </a:pPr>
              <a:r>
                <a:rPr lang="en-US" b="true" sz="1974">
                  <a:solidFill>
                    <a:srgbClr val="0013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5108789"/>
            <a:ext cx="943132" cy="861222"/>
            <a:chOff x="0" y="0"/>
            <a:chExt cx="1257509" cy="114829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257509" cy="1148296"/>
              <a:chOff x="0" y="0"/>
              <a:chExt cx="812800" cy="742209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742209"/>
              </a:xfrm>
              <a:custGeom>
                <a:avLst/>
                <a:gdLst/>
                <a:ahLst/>
                <a:cxnLst/>
                <a:rect r="r" b="b" t="t" l="l"/>
                <a:pathLst>
                  <a:path h="742209" w="812800">
                    <a:moveTo>
                      <a:pt x="406400" y="0"/>
                    </a:moveTo>
                    <a:cubicBezTo>
                      <a:pt x="181951" y="0"/>
                      <a:pt x="0" y="166149"/>
                      <a:pt x="0" y="371105"/>
                    </a:cubicBezTo>
                    <a:cubicBezTo>
                      <a:pt x="0" y="576060"/>
                      <a:pt x="181951" y="742209"/>
                      <a:pt x="406400" y="742209"/>
                    </a:cubicBezTo>
                    <a:cubicBezTo>
                      <a:pt x="630849" y="742209"/>
                      <a:pt x="812800" y="576060"/>
                      <a:pt x="812800" y="371105"/>
                    </a:cubicBezTo>
                    <a:cubicBezTo>
                      <a:pt x="812800" y="166149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C7BB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21957"/>
                <a:ext cx="660400" cy="6506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25716" y="340888"/>
              <a:ext cx="1006076" cy="428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64"/>
                </a:lnSpc>
              </a:pPr>
              <a:r>
                <a:rPr lang="en-US" b="true" sz="1974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225751" y="5219360"/>
            <a:ext cx="548656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</a:pPr>
            <a:r>
              <a:rPr lang="en-US" sz="1800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Co</a:t>
            </a:r>
            <a:r>
              <a:rPr lang="en-US" sz="1800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ntrol de Presupuestos (FinOps): Detectar qué feature o usuario está consumiendo la API Key.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28700" y="6293861"/>
            <a:ext cx="943132" cy="861222"/>
            <a:chOff x="0" y="0"/>
            <a:chExt cx="1257509" cy="1148296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257509" cy="1148296"/>
              <a:chOff x="0" y="0"/>
              <a:chExt cx="812800" cy="742209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742209"/>
              </a:xfrm>
              <a:custGeom>
                <a:avLst/>
                <a:gdLst/>
                <a:ahLst/>
                <a:cxnLst/>
                <a:rect r="r" b="b" t="t" l="l"/>
                <a:pathLst>
                  <a:path h="742209" w="812800">
                    <a:moveTo>
                      <a:pt x="406400" y="0"/>
                    </a:moveTo>
                    <a:cubicBezTo>
                      <a:pt x="181951" y="0"/>
                      <a:pt x="0" y="166149"/>
                      <a:pt x="0" y="371105"/>
                    </a:cubicBezTo>
                    <a:cubicBezTo>
                      <a:pt x="0" y="576060"/>
                      <a:pt x="181951" y="742209"/>
                      <a:pt x="406400" y="742209"/>
                    </a:cubicBezTo>
                    <a:cubicBezTo>
                      <a:pt x="630849" y="742209"/>
                      <a:pt x="812800" y="576060"/>
                      <a:pt x="812800" y="371105"/>
                    </a:cubicBezTo>
                    <a:cubicBezTo>
                      <a:pt x="812800" y="166149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475E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21957"/>
                <a:ext cx="660400" cy="6506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25716" y="340888"/>
              <a:ext cx="1006076" cy="428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64"/>
                </a:lnSpc>
              </a:pPr>
              <a:r>
                <a:rPr lang="en-US" b="true" sz="1974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225751" y="6404432"/>
            <a:ext cx="5486560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</a:pPr>
            <a:r>
              <a:rPr lang="en-US" sz="1800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A/B Testing: Compa</a:t>
            </a:r>
            <a:r>
              <a:rPr lang="en-US" sz="1800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rar dos modelos distintos (ej. GPT-4 vs Llama 3) para ver cuál responde más rápido y mejor.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353112" cy="10287000"/>
            <a:chOff x="0" y="0"/>
            <a:chExt cx="1146499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649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146499">
                  <a:moveTo>
                    <a:pt x="0" y="0"/>
                  </a:moveTo>
                  <a:lnTo>
                    <a:pt x="1146499" y="0"/>
                  </a:lnTo>
                  <a:lnTo>
                    <a:pt x="114649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133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46499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-422337"/>
            <a:ext cx="7134025" cy="6645374"/>
            <a:chOff x="0" y="0"/>
            <a:chExt cx="1105247" cy="10295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5247" cy="1029542"/>
            </a:xfrm>
            <a:custGeom>
              <a:avLst/>
              <a:gdLst/>
              <a:ahLst/>
              <a:cxnLst/>
              <a:rect r="r" b="b" t="t" l="l"/>
              <a:pathLst>
                <a:path h="1029542" w="1105247">
                  <a:moveTo>
                    <a:pt x="42323" y="0"/>
                  </a:moveTo>
                  <a:lnTo>
                    <a:pt x="1062924" y="0"/>
                  </a:lnTo>
                  <a:cubicBezTo>
                    <a:pt x="1074149" y="0"/>
                    <a:pt x="1084914" y="4459"/>
                    <a:pt x="1092851" y="12396"/>
                  </a:cubicBezTo>
                  <a:cubicBezTo>
                    <a:pt x="1100788" y="20333"/>
                    <a:pt x="1105247" y="31098"/>
                    <a:pt x="1105247" y="42323"/>
                  </a:cubicBezTo>
                  <a:lnTo>
                    <a:pt x="1105247" y="987219"/>
                  </a:lnTo>
                  <a:cubicBezTo>
                    <a:pt x="1105247" y="998444"/>
                    <a:pt x="1100788" y="1009209"/>
                    <a:pt x="1092851" y="1017146"/>
                  </a:cubicBezTo>
                  <a:cubicBezTo>
                    <a:pt x="1084914" y="1025083"/>
                    <a:pt x="1074149" y="1029542"/>
                    <a:pt x="1062924" y="1029542"/>
                  </a:cubicBezTo>
                  <a:lnTo>
                    <a:pt x="42323" y="1029542"/>
                  </a:lnTo>
                  <a:cubicBezTo>
                    <a:pt x="31098" y="1029542"/>
                    <a:pt x="20333" y="1025083"/>
                    <a:pt x="12396" y="1017146"/>
                  </a:cubicBezTo>
                  <a:cubicBezTo>
                    <a:pt x="4459" y="1009209"/>
                    <a:pt x="0" y="998444"/>
                    <a:pt x="0" y="987219"/>
                  </a:cubicBezTo>
                  <a:lnTo>
                    <a:pt x="0" y="42323"/>
                  </a:lnTo>
                  <a:cubicBezTo>
                    <a:pt x="0" y="31098"/>
                    <a:pt x="4459" y="20333"/>
                    <a:pt x="12396" y="12396"/>
                  </a:cubicBezTo>
                  <a:cubicBezTo>
                    <a:pt x="20333" y="4459"/>
                    <a:pt x="31098" y="0"/>
                    <a:pt x="4232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676" r="0" b="-3676"/>
              </a:stretch>
            </a:blipFill>
            <a:ln w="11430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7184681"/>
            <a:ext cx="7134025" cy="2525415"/>
            <a:chOff x="0" y="0"/>
            <a:chExt cx="1105247" cy="3912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05247" cy="391253"/>
            </a:xfrm>
            <a:custGeom>
              <a:avLst/>
              <a:gdLst/>
              <a:ahLst/>
              <a:cxnLst/>
              <a:rect r="r" b="b" t="t" l="l"/>
              <a:pathLst>
                <a:path h="391253" w="1105247">
                  <a:moveTo>
                    <a:pt x="42323" y="0"/>
                  </a:moveTo>
                  <a:lnTo>
                    <a:pt x="1062924" y="0"/>
                  </a:lnTo>
                  <a:cubicBezTo>
                    <a:pt x="1074149" y="0"/>
                    <a:pt x="1084914" y="4459"/>
                    <a:pt x="1092851" y="12396"/>
                  </a:cubicBezTo>
                  <a:cubicBezTo>
                    <a:pt x="1100788" y="20333"/>
                    <a:pt x="1105247" y="31098"/>
                    <a:pt x="1105247" y="42323"/>
                  </a:cubicBezTo>
                  <a:lnTo>
                    <a:pt x="1105247" y="348930"/>
                  </a:lnTo>
                  <a:cubicBezTo>
                    <a:pt x="1105247" y="360154"/>
                    <a:pt x="1100788" y="370920"/>
                    <a:pt x="1092851" y="378857"/>
                  </a:cubicBezTo>
                  <a:cubicBezTo>
                    <a:pt x="1084914" y="386794"/>
                    <a:pt x="1074149" y="391253"/>
                    <a:pt x="1062924" y="391253"/>
                  </a:cubicBezTo>
                  <a:lnTo>
                    <a:pt x="42323" y="391253"/>
                  </a:lnTo>
                  <a:cubicBezTo>
                    <a:pt x="31098" y="391253"/>
                    <a:pt x="20333" y="386794"/>
                    <a:pt x="12396" y="378857"/>
                  </a:cubicBezTo>
                  <a:cubicBezTo>
                    <a:pt x="4459" y="370920"/>
                    <a:pt x="0" y="360154"/>
                    <a:pt x="0" y="348930"/>
                  </a:cubicBezTo>
                  <a:lnTo>
                    <a:pt x="0" y="42323"/>
                  </a:lnTo>
                  <a:cubicBezTo>
                    <a:pt x="0" y="31098"/>
                    <a:pt x="4459" y="20333"/>
                    <a:pt x="12396" y="12396"/>
                  </a:cubicBezTo>
                  <a:cubicBezTo>
                    <a:pt x="20333" y="4459"/>
                    <a:pt x="31098" y="0"/>
                    <a:pt x="42323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30509" r="0" b="-30509"/>
              </a:stretch>
            </a:blipFill>
            <a:ln w="11430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741205" y="4454329"/>
            <a:ext cx="943132" cy="94313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C7B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741205" y="7122971"/>
            <a:ext cx="943132" cy="94313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255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600740" y="1031613"/>
            <a:ext cx="7658560" cy="216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</a:pPr>
            <a:r>
              <a:rPr lang="en-US" b="true" sz="6000">
                <a:solidFill>
                  <a:srgbClr val="00133B"/>
                </a:solidFill>
                <a:latin typeface="Poppins Bold"/>
                <a:ea typeface="Poppins Bold"/>
                <a:cs typeface="Poppins Bold"/>
                <a:sym typeface="Poppins Bold"/>
              </a:rPr>
              <a:t>Pros y Contras de Langfuse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13364" y="4389490"/>
            <a:ext cx="6245936" cy="1987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5"/>
              </a:lnSpc>
            </a:pPr>
            <a:r>
              <a:rPr lang="en-US" sz="1632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Pros:</a:t>
            </a:r>
          </a:p>
          <a:p>
            <a:pPr algn="l" marL="352396" indent="-176198" lvl="1">
              <a:lnSpc>
                <a:spcPts val="2285"/>
              </a:lnSpc>
              <a:buFont typeface="Arial"/>
              <a:buChar char="•"/>
            </a:pPr>
            <a:r>
              <a:rPr lang="en-US" sz="1632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Int</a:t>
            </a:r>
            <a:r>
              <a:rPr lang="en-US" sz="1632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egración ca</a:t>
            </a:r>
            <a:r>
              <a:rPr lang="en-US" sz="1632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si automática (Drop-in replacement para OpenAI/Groq).</a:t>
            </a:r>
          </a:p>
          <a:p>
            <a:pPr algn="l" marL="352396" indent="-176198" lvl="1">
              <a:lnSpc>
                <a:spcPts val="2285"/>
              </a:lnSpc>
              <a:buFont typeface="Arial"/>
              <a:buChar char="•"/>
            </a:pPr>
            <a:r>
              <a:rPr lang="en-US" sz="1632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Es Open-source (puedes instalarlo en tus propios servidores por privacidad).</a:t>
            </a:r>
          </a:p>
          <a:p>
            <a:pPr algn="l" marL="352396" indent="-176198" lvl="1">
              <a:lnSpc>
                <a:spcPts val="2285"/>
              </a:lnSpc>
              <a:buFont typeface="Arial"/>
              <a:buChar char="•"/>
            </a:pPr>
            <a:r>
              <a:rPr lang="en-US" sz="1632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Interfaz muy limpia y moderna.</a:t>
            </a:r>
          </a:p>
          <a:p>
            <a:pPr algn="l" marL="0" indent="0" lvl="0">
              <a:lnSpc>
                <a:spcPts val="2285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1013364" y="7094396"/>
            <a:ext cx="6245936" cy="1701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5"/>
              </a:lnSpc>
            </a:pPr>
            <a:r>
              <a:rPr lang="en-US" sz="1632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1632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ontras:</a:t>
            </a:r>
          </a:p>
          <a:p>
            <a:pPr algn="l" marL="352396" indent="-176198" lvl="1">
              <a:lnSpc>
                <a:spcPts val="2285"/>
              </a:lnSpc>
              <a:buFont typeface="Arial"/>
              <a:buChar char="•"/>
            </a:pPr>
            <a:r>
              <a:rPr lang="en-US" sz="1632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Curva de aprendizaje si se configuran trazas anidadas muy complejas.</a:t>
            </a:r>
          </a:p>
          <a:p>
            <a:pPr algn="l" marL="352396" indent="-176198" lvl="1">
              <a:lnSpc>
                <a:spcPts val="2285"/>
              </a:lnSpc>
              <a:buFont typeface="Arial"/>
              <a:buChar char="•"/>
            </a:pPr>
            <a:r>
              <a:rPr lang="en-US" sz="1632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Si se auto-aloja (Self-host), requiere mantenimiento de bases de datos.</a:t>
            </a:r>
          </a:p>
          <a:p>
            <a:pPr algn="l" marL="0" indent="0" lvl="0">
              <a:lnSpc>
                <a:spcPts val="2285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9835492" y="4690945"/>
            <a:ext cx="754557" cy="357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56"/>
              </a:lnSpc>
            </a:pPr>
            <a:r>
              <a:rPr lang="en-US" b="true" sz="204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✓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35492" y="7359588"/>
            <a:ext cx="754557" cy="357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56"/>
              </a:lnSpc>
            </a:pPr>
            <a:r>
              <a:rPr lang="en-US" b="true" sz="204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✗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87357" y="0"/>
            <a:ext cx="9400643" cy="10287000"/>
            <a:chOff x="0" y="0"/>
            <a:chExt cx="1701799" cy="18622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1799" cy="1862256"/>
            </a:xfrm>
            <a:custGeom>
              <a:avLst/>
              <a:gdLst/>
              <a:ahLst/>
              <a:cxnLst/>
              <a:rect r="r" b="b" t="t" l="l"/>
              <a:pathLst>
                <a:path h="1862256" w="1701799">
                  <a:moveTo>
                    <a:pt x="0" y="0"/>
                  </a:moveTo>
                  <a:lnTo>
                    <a:pt x="1701799" y="0"/>
                  </a:lnTo>
                  <a:lnTo>
                    <a:pt x="1701799" y="1862256"/>
                  </a:lnTo>
                  <a:lnTo>
                    <a:pt x="0" y="1862256"/>
                  </a:lnTo>
                  <a:close/>
                </a:path>
              </a:pathLst>
            </a:custGeom>
            <a:blipFill>
              <a:blip r:embed="rId2"/>
              <a:stretch>
                <a:fillRect l="0" t="-17817" r="0" b="-17817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885825"/>
            <a:ext cx="6683611" cy="187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83"/>
              </a:lnSpc>
            </a:pPr>
            <a:r>
              <a:rPr lang="en-US" b="true" sz="527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Comparativa con LangSmith y Ragas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25751" y="4019054"/>
            <a:ext cx="548656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</a:pPr>
            <a:r>
              <a:rPr lang="en-US" sz="1800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Langfus</a:t>
            </a:r>
            <a:r>
              <a:rPr lang="en-US" sz="1800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e: Open-source. Foco en monitorización global y costes. Fácil de usar.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3908483"/>
            <a:ext cx="943132" cy="861222"/>
            <a:chOff x="0" y="0"/>
            <a:chExt cx="1257509" cy="1148296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257509" cy="1148296"/>
              <a:chOff x="0" y="0"/>
              <a:chExt cx="812800" cy="742209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742209"/>
              </a:xfrm>
              <a:custGeom>
                <a:avLst/>
                <a:gdLst/>
                <a:ahLst/>
                <a:cxnLst/>
                <a:rect r="r" b="b" t="t" l="l"/>
                <a:pathLst>
                  <a:path h="742209" w="812800">
                    <a:moveTo>
                      <a:pt x="406400" y="0"/>
                    </a:moveTo>
                    <a:cubicBezTo>
                      <a:pt x="181951" y="0"/>
                      <a:pt x="0" y="166149"/>
                      <a:pt x="0" y="371105"/>
                    </a:cubicBezTo>
                    <a:cubicBezTo>
                      <a:pt x="0" y="576060"/>
                      <a:pt x="181951" y="742209"/>
                      <a:pt x="406400" y="742209"/>
                    </a:cubicBezTo>
                    <a:cubicBezTo>
                      <a:pt x="630849" y="742209"/>
                      <a:pt x="812800" y="576060"/>
                      <a:pt x="812800" y="371105"/>
                    </a:cubicBezTo>
                    <a:cubicBezTo>
                      <a:pt x="812800" y="166149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8ADB1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21957"/>
                <a:ext cx="660400" cy="6506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125716" y="340888"/>
              <a:ext cx="1006076" cy="428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64"/>
                </a:lnSpc>
              </a:pPr>
              <a:r>
                <a:rPr lang="en-US" b="true" sz="1974">
                  <a:solidFill>
                    <a:srgbClr val="0013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5108789"/>
            <a:ext cx="943132" cy="861222"/>
            <a:chOff x="0" y="0"/>
            <a:chExt cx="1257509" cy="1148296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257509" cy="1148296"/>
              <a:chOff x="0" y="0"/>
              <a:chExt cx="812800" cy="74220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742209"/>
              </a:xfrm>
              <a:custGeom>
                <a:avLst/>
                <a:gdLst/>
                <a:ahLst/>
                <a:cxnLst/>
                <a:rect r="r" b="b" t="t" l="l"/>
                <a:pathLst>
                  <a:path h="742209" w="812800">
                    <a:moveTo>
                      <a:pt x="406400" y="0"/>
                    </a:moveTo>
                    <a:cubicBezTo>
                      <a:pt x="181951" y="0"/>
                      <a:pt x="0" y="166149"/>
                      <a:pt x="0" y="371105"/>
                    </a:cubicBezTo>
                    <a:cubicBezTo>
                      <a:pt x="0" y="576060"/>
                      <a:pt x="181951" y="742209"/>
                      <a:pt x="406400" y="742209"/>
                    </a:cubicBezTo>
                    <a:cubicBezTo>
                      <a:pt x="630849" y="742209"/>
                      <a:pt x="812800" y="576060"/>
                      <a:pt x="812800" y="371105"/>
                    </a:cubicBezTo>
                    <a:cubicBezTo>
                      <a:pt x="812800" y="166149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C7BB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21957"/>
                <a:ext cx="660400" cy="6506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125716" y="340888"/>
              <a:ext cx="1006076" cy="428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64"/>
                </a:lnSpc>
              </a:pPr>
              <a:r>
                <a:rPr lang="en-US" b="true" sz="1974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225751" y="5219360"/>
            <a:ext cx="548656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</a:pPr>
            <a:r>
              <a:rPr lang="en-US" sz="1800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La</a:t>
            </a:r>
            <a:r>
              <a:rPr lang="en-US" sz="1800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ngSmith: Propietario. Foco exclusivo en el ecosistema LangChain.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28700" y="6293861"/>
            <a:ext cx="943132" cy="861222"/>
            <a:chOff x="0" y="0"/>
            <a:chExt cx="1257509" cy="114829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257509" cy="1148296"/>
              <a:chOff x="0" y="0"/>
              <a:chExt cx="812800" cy="74220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742209"/>
              </a:xfrm>
              <a:custGeom>
                <a:avLst/>
                <a:gdLst/>
                <a:ahLst/>
                <a:cxnLst/>
                <a:rect r="r" b="b" t="t" l="l"/>
                <a:pathLst>
                  <a:path h="742209" w="812800">
                    <a:moveTo>
                      <a:pt x="406400" y="0"/>
                    </a:moveTo>
                    <a:cubicBezTo>
                      <a:pt x="181951" y="0"/>
                      <a:pt x="0" y="166149"/>
                      <a:pt x="0" y="371105"/>
                    </a:cubicBezTo>
                    <a:cubicBezTo>
                      <a:pt x="0" y="576060"/>
                      <a:pt x="181951" y="742209"/>
                      <a:pt x="406400" y="742209"/>
                    </a:cubicBezTo>
                    <a:cubicBezTo>
                      <a:pt x="630849" y="742209"/>
                      <a:pt x="812800" y="576060"/>
                      <a:pt x="812800" y="371105"/>
                    </a:cubicBezTo>
                    <a:cubicBezTo>
                      <a:pt x="812800" y="166149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475E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21957"/>
                <a:ext cx="660400" cy="6506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125716" y="340888"/>
              <a:ext cx="1006076" cy="428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64"/>
                </a:lnSpc>
              </a:pPr>
              <a:r>
                <a:rPr lang="en-US" b="true" sz="1974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225751" y="6247269"/>
            <a:ext cx="5486560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</a:pPr>
            <a:r>
              <a:rPr lang="en-US" sz="1800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Ragas / DeepEval:</a:t>
            </a:r>
            <a:r>
              <a:rPr lang="en-US" sz="1800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 Foco estricto en poner nota (evaluación), no tanto en ver los costes o la latencia general.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28700" y="7851758"/>
            <a:ext cx="11182091" cy="2214274"/>
            <a:chOff x="0" y="0"/>
            <a:chExt cx="2945078" cy="5831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945078" cy="583183"/>
            </a:xfrm>
            <a:custGeom>
              <a:avLst/>
              <a:gdLst/>
              <a:ahLst/>
              <a:cxnLst/>
              <a:rect r="r" b="b" t="t" l="l"/>
              <a:pathLst>
                <a:path h="583183" w="2945078">
                  <a:moveTo>
                    <a:pt x="27694" y="0"/>
                  </a:moveTo>
                  <a:lnTo>
                    <a:pt x="2917384" y="0"/>
                  </a:lnTo>
                  <a:cubicBezTo>
                    <a:pt x="2932679" y="0"/>
                    <a:pt x="2945078" y="12399"/>
                    <a:pt x="2945078" y="27694"/>
                  </a:cubicBezTo>
                  <a:lnTo>
                    <a:pt x="2945078" y="555489"/>
                  </a:lnTo>
                  <a:cubicBezTo>
                    <a:pt x="2945078" y="570784"/>
                    <a:pt x="2932679" y="583183"/>
                    <a:pt x="2917384" y="583183"/>
                  </a:cubicBezTo>
                  <a:lnTo>
                    <a:pt x="27694" y="583183"/>
                  </a:lnTo>
                  <a:cubicBezTo>
                    <a:pt x="12399" y="583183"/>
                    <a:pt x="0" y="570784"/>
                    <a:pt x="0" y="555489"/>
                  </a:cubicBezTo>
                  <a:lnTo>
                    <a:pt x="0" y="27694"/>
                  </a:lnTo>
                  <a:cubicBezTo>
                    <a:pt x="0" y="12399"/>
                    <a:pt x="12399" y="0"/>
                    <a:pt x="27694" y="0"/>
                  </a:cubicBezTo>
                  <a:close/>
                </a:path>
              </a:pathLst>
            </a:custGeom>
            <a:solidFill>
              <a:srgbClr val="00133B"/>
            </a:solidFill>
            <a:ln w="1143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945078" cy="630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755386" y="8229886"/>
            <a:ext cx="370993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Aplicaciones Prácticas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55386" y="8882492"/>
            <a:ext cx="8422315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Estas aplicaciones prácticas demuestran cómo Langfuse aporta valor real en entornos de producción de IA generativa.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353112" cy="10287000"/>
            <a:chOff x="0" y="0"/>
            <a:chExt cx="1146499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649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146499">
                  <a:moveTo>
                    <a:pt x="0" y="0"/>
                  </a:moveTo>
                  <a:lnTo>
                    <a:pt x="1146499" y="0"/>
                  </a:lnTo>
                  <a:lnTo>
                    <a:pt x="114649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133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46499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-422337"/>
            <a:ext cx="7134025" cy="6645374"/>
            <a:chOff x="0" y="0"/>
            <a:chExt cx="1105247" cy="10295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5247" cy="1029542"/>
            </a:xfrm>
            <a:custGeom>
              <a:avLst/>
              <a:gdLst/>
              <a:ahLst/>
              <a:cxnLst/>
              <a:rect r="r" b="b" t="t" l="l"/>
              <a:pathLst>
                <a:path h="1029542" w="1105247">
                  <a:moveTo>
                    <a:pt x="42323" y="0"/>
                  </a:moveTo>
                  <a:lnTo>
                    <a:pt x="1062924" y="0"/>
                  </a:lnTo>
                  <a:cubicBezTo>
                    <a:pt x="1074149" y="0"/>
                    <a:pt x="1084914" y="4459"/>
                    <a:pt x="1092851" y="12396"/>
                  </a:cubicBezTo>
                  <a:cubicBezTo>
                    <a:pt x="1100788" y="20333"/>
                    <a:pt x="1105247" y="31098"/>
                    <a:pt x="1105247" y="42323"/>
                  </a:cubicBezTo>
                  <a:lnTo>
                    <a:pt x="1105247" y="987219"/>
                  </a:lnTo>
                  <a:cubicBezTo>
                    <a:pt x="1105247" y="998444"/>
                    <a:pt x="1100788" y="1009209"/>
                    <a:pt x="1092851" y="1017146"/>
                  </a:cubicBezTo>
                  <a:cubicBezTo>
                    <a:pt x="1084914" y="1025083"/>
                    <a:pt x="1074149" y="1029542"/>
                    <a:pt x="1062924" y="1029542"/>
                  </a:cubicBezTo>
                  <a:lnTo>
                    <a:pt x="42323" y="1029542"/>
                  </a:lnTo>
                  <a:cubicBezTo>
                    <a:pt x="31098" y="1029542"/>
                    <a:pt x="20333" y="1025083"/>
                    <a:pt x="12396" y="1017146"/>
                  </a:cubicBezTo>
                  <a:cubicBezTo>
                    <a:pt x="4459" y="1009209"/>
                    <a:pt x="0" y="998444"/>
                    <a:pt x="0" y="987219"/>
                  </a:cubicBezTo>
                  <a:lnTo>
                    <a:pt x="0" y="42323"/>
                  </a:lnTo>
                  <a:cubicBezTo>
                    <a:pt x="0" y="31098"/>
                    <a:pt x="4459" y="20333"/>
                    <a:pt x="12396" y="12396"/>
                  </a:cubicBezTo>
                  <a:cubicBezTo>
                    <a:pt x="20333" y="4459"/>
                    <a:pt x="31098" y="0"/>
                    <a:pt x="4232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676" r="0" b="-3676"/>
              </a:stretch>
            </a:blipFill>
            <a:ln w="11430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7223000"/>
            <a:ext cx="7134025" cy="2525415"/>
            <a:chOff x="0" y="0"/>
            <a:chExt cx="1105247" cy="3912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05247" cy="391253"/>
            </a:xfrm>
            <a:custGeom>
              <a:avLst/>
              <a:gdLst/>
              <a:ahLst/>
              <a:cxnLst/>
              <a:rect r="r" b="b" t="t" l="l"/>
              <a:pathLst>
                <a:path h="391253" w="1105247">
                  <a:moveTo>
                    <a:pt x="42323" y="0"/>
                  </a:moveTo>
                  <a:lnTo>
                    <a:pt x="1062924" y="0"/>
                  </a:lnTo>
                  <a:cubicBezTo>
                    <a:pt x="1074149" y="0"/>
                    <a:pt x="1084914" y="4459"/>
                    <a:pt x="1092851" y="12396"/>
                  </a:cubicBezTo>
                  <a:cubicBezTo>
                    <a:pt x="1100788" y="20333"/>
                    <a:pt x="1105247" y="31098"/>
                    <a:pt x="1105247" y="42323"/>
                  </a:cubicBezTo>
                  <a:lnTo>
                    <a:pt x="1105247" y="348930"/>
                  </a:lnTo>
                  <a:cubicBezTo>
                    <a:pt x="1105247" y="360154"/>
                    <a:pt x="1100788" y="370920"/>
                    <a:pt x="1092851" y="378857"/>
                  </a:cubicBezTo>
                  <a:cubicBezTo>
                    <a:pt x="1084914" y="386794"/>
                    <a:pt x="1074149" y="391253"/>
                    <a:pt x="1062924" y="391253"/>
                  </a:cubicBezTo>
                  <a:lnTo>
                    <a:pt x="42323" y="391253"/>
                  </a:lnTo>
                  <a:cubicBezTo>
                    <a:pt x="31098" y="391253"/>
                    <a:pt x="20333" y="386794"/>
                    <a:pt x="12396" y="378857"/>
                  </a:cubicBezTo>
                  <a:cubicBezTo>
                    <a:pt x="4459" y="370920"/>
                    <a:pt x="0" y="360154"/>
                    <a:pt x="0" y="348930"/>
                  </a:cubicBezTo>
                  <a:lnTo>
                    <a:pt x="0" y="42323"/>
                  </a:lnTo>
                  <a:cubicBezTo>
                    <a:pt x="0" y="31098"/>
                    <a:pt x="4459" y="20333"/>
                    <a:pt x="12396" y="12396"/>
                  </a:cubicBezTo>
                  <a:cubicBezTo>
                    <a:pt x="20333" y="4459"/>
                    <a:pt x="31098" y="0"/>
                    <a:pt x="42323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30509" r="0" b="-30509"/>
              </a:stretch>
            </a:blipFill>
            <a:ln w="11430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9600740" y="857250"/>
            <a:ext cx="7658560" cy="2240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14"/>
              </a:lnSpc>
            </a:pPr>
            <a:r>
              <a:rPr lang="en-US" b="true" sz="6295">
                <a:solidFill>
                  <a:srgbClr val="00133B"/>
                </a:solidFill>
                <a:latin typeface="Poppins Bold"/>
                <a:ea typeface="Poppins Bold"/>
                <a:cs typeface="Poppins Bold"/>
                <a:sym typeface="Poppins Bold"/>
              </a:rPr>
              <a:t>Guía Rápida de Instalación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97791" y="4229617"/>
            <a:ext cx="548656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</a:pPr>
            <a:r>
              <a:rPr lang="en-US" sz="1999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1999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aso 1: Instalar la librería: pip install langfuse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600740" y="3987919"/>
            <a:ext cx="943132" cy="861222"/>
            <a:chOff x="0" y="0"/>
            <a:chExt cx="1257509" cy="1148296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257509" cy="1148296"/>
              <a:chOff x="0" y="0"/>
              <a:chExt cx="812800" cy="74220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742209"/>
              </a:xfrm>
              <a:custGeom>
                <a:avLst/>
                <a:gdLst/>
                <a:ahLst/>
                <a:cxnLst/>
                <a:rect r="r" b="b" t="t" l="l"/>
                <a:pathLst>
                  <a:path h="742209" w="812800">
                    <a:moveTo>
                      <a:pt x="406400" y="0"/>
                    </a:moveTo>
                    <a:cubicBezTo>
                      <a:pt x="181951" y="0"/>
                      <a:pt x="0" y="166149"/>
                      <a:pt x="0" y="371105"/>
                    </a:cubicBezTo>
                    <a:cubicBezTo>
                      <a:pt x="0" y="576060"/>
                      <a:pt x="181951" y="742209"/>
                      <a:pt x="406400" y="742209"/>
                    </a:cubicBezTo>
                    <a:cubicBezTo>
                      <a:pt x="630849" y="742209"/>
                      <a:pt x="812800" y="576060"/>
                      <a:pt x="812800" y="371105"/>
                    </a:cubicBezTo>
                    <a:cubicBezTo>
                      <a:pt x="812800" y="166149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8ADB1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21957"/>
                <a:ext cx="660400" cy="6506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125716" y="340888"/>
              <a:ext cx="1006076" cy="428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64"/>
                </a:lnSpc>
              </a:pPr>
              <a:r>
                <a:rPr lang="en-US" b="true" sz="1974">
                  <a:solidFill>
                    <a:srgbClr val="0013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600740" y="5727621"/>
            <a:ext cx="943132" cy="861222"/>
            <a:chOff x="0" y="0"/>
            <a:chExt cx="1257509" cy="114829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257509" cy="1148296"/>
              <a:chOff x="0" y="0"/>
              <a:chExt cx="812800" cy="742209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742209"/>
              </a:xfrm>
              <a:custGeom>
                <a:avLst/>
                <a:gdLst/>
                <a:ahLst/>
                <a:cxnLst/>
                <a:rect r="r" b="b" t="t" l="l"/>
                <a:pathLst>
                  <a:path h="742209" w="812800">
                    <a:moveTo>
                      <a:pt x="406400" y="0"/>
                    </a:moveTo>
                    <a:cubicBezTo>
                      <a:pt x="181951" y="0"/>
                      <a:pt x="0" y="166149"/>
                      <a:pt x="0" y="371105"/>
                    </a:cubicBezTo>
                    <a:cubicBezTo>
                      <a:pt x="0" y="576060"/>
                      <a:pt x="181951" y="742209"/>
                      <a:pt x="406400" y="742209"/>
                    </a:cubicBezTo>
                    <a:cubicBezTo>
                      <a:pt x="630849" y="742209"/>
                      <a:pt x="812800" y="576060"/>
                      <a:pt x="812800" y="371105"/>
                    </a:cubicBezTo>
                    <a:cubicBezTo>
                      <a:pt x="812800" y="166149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C7BB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21957"/>
                <a:ext cx="660400" cy="6506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25716" y="340888"/>
              <a:ext cx="1006076" cy="428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64"/>
                </a:lnSpc>
              </a:pPr>
              <a:r>
                <a:rPr lang="en-US" b="true" sz="1974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797791" y="5616894"/>
            <a:ext cx="5486560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</a:pPr>
            <a:r>
              <a:rPr lang="en-US" sz="1999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Paso 2: Configurar variables de entorno: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LANGFUSE_PUBLIC_KEY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LANGFUSE_SECRET_KEY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600740" y="7449306"/>
            <a:ext cx="943132" cy="861222"/>
            <a:chOff x="0" y="0"/>
            <a:chExt cx="1257509" cy="1148296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257509" cy="1148296"/>
              <a:chOff x="0" y="0"/>
              <a:chExt cx="812800" cy="742209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742209"/>
              </a:xfrm>
              <a:custGeom>
                <a:avLst/>
                <a:gdLst/>
                <a:ahLst/>
                <a:cxnLst/>
                <a:rect r="r" b="b" t="t" l="l"/>
                <a:pathLst>
                  <a:path h="742209" w="812800">
                    <a:moveTo>
                      <a:pt x="406400" y="0"/>
                    </a:moveTo>
                    <a:cubicBezTo>
                      <a:pt x="181951" y="0"/>
                      <a:pt x="0" y="166149"/>
                      <a:pt x="0" y="371105"/>
                    </a:cubicBezTo>
                    <a:cubicBezTo>
                      <a:pt x="0" y="576060"/>
                      <a:pt x="181951" y="742209"/>
                      <a:pt x="406400" y="742209"/>
                    </a:cubicBezTo>
                    <a:cubicBezTo>
                      <a:pt x="630849" y="742209"/>
                      <a:pt x="812800" y="576060"/>
                      <a:pt x="812800" y="371105"/>
                    </a:cubicBezTo>
                    <a:cubicBezTo>
                      <a:pt x="812800" y="166149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475E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21957"/>
                <a:ext cx="660400" cy="6506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25716" y="340888"/>
              <a:ext cx="1006076" cy="428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64"/>
                </a:lnSpc>
              </a:pPr>
              <a:r>
                <a:rPr lang="en-US" b="true" sz="1974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797791" y="7514792"/>
            <a:ext cx="5486560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</a:pPr>
            <a:r>
              <a:rPr lang="en-US" sz="1999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Paso 3: Cambia</a:t>
            </a:r>
            <a:r>
              <a:rPr lang="en-US" sz="1999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r la importación clásica de OpenAI por la de Langfuse. ¡Listo!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37834" y="3345249"/>
            <a:ext cx="14212331" cy="2070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087"/>
              </a:lnSpc>
            </a:pPr>
            <a:r>
              <a:rPr lang="en-US" b="true" sz="1149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¡Gracias!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240212" y="5758204"/>
            <a:ext cx="9807576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7"/>
              </a:lnSpc>
            </a:pPr>
            <a:r>
              <a:rPr lang="en-US" sz="219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Eje</a:t>
            </a:r>
            <a:r>
              <a:rPr lang="en-US" sz="219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cución de RAG y Trazado de llamadas a Groq.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240212" y="3115380"/>
            <a:ext cx="9807576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7"/>
              </a:lnSpc>
            </a:pPr>
            <a:r>
              <a:rPr lang="en-US" sz="219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Observabilidad en IA con Langfuse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600950" y="6511723"/>
            <a:ext cx="3086100" cy="1072340"/>
            <a:chOff x="0" y="0"/>
            <a:chExt cx="812800" cy="2824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282427"/>
            </a:xfrm>
            <a:custGeom>
              <a:avLst/>
              <a:gdLst/>
              <a:ahLst/>
              <a:cxnLst/>
              <a:rect r="r" b="b" t="t" l="l"/>
              <a:pathLst>
                <a:path h="282427" w="812800">
                  <a:moveTo>
                    <a:pt x="141213" y="0"/>
                  </a:moveTo>
                  <a:lnTo>
                    <a:pt x="671587" y="0"/>
                  </a:lnTo>
                  <a:cubicBezTo>
                    <a:pt x="749577" y="0"/>
                    <a:pt x="812800" y="63223"/>
                    <a:pt x="812800" y="141213"/>
                  </a:cubicBezTo>
                  <a:lnTo>
                    <a:pt x="812800" y="141213"/>
                  </a:lnTo>
                  <a:cubicBezTo>
                    <a:pt x="812800" y="219203"/>
                    <a:pt x="749577" y="282427"/>
                    <a:pt x="671587" y="282427"/>
                  </a:cubicBezTo>
                  <a:lnTo>
                    <a:pt x="141213" y="282427"/>
                  </a:lnTo>
                  <a:cubicBezTo>
                    <a:pt x="63223" y="282427"/>
                    <a:pt x="0" y="219203"/>
                    <a:pt x="0" y="141213"/>
                  </a:cubicBezTo>
                  <a:lnTo>
                    <a:pt x="0" y="141213"/>
                  </a:lnTo>
                  <a:cubicBezTo>
                    <a:pt x="0" y="63223"/>
                    <a:pt x="63223" y="0"/>
                    <a:pt x="141213" y="0"/>
                  </a:cubicBezTo>
                  <a:close/>
                </a:path>
              </a:pathLst>
            </a:custGeom>
            <a:solidFill>
              <a:srgbClr val="15C7B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12800" cy="330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922885" y="6682751"/>
            <a:ext cx="2442230" cy="69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b="true" sz="199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VAMOS CON LA </a:t>
            </a:r>
            <a:r>
              <a:rPr lang="en-US" b="true" sz="199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DEMO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956040" y="1208448"/>
            <a:ext cx="375921" cy="1246044"/>
            <a:chOff x="0" y="0"/>
            <a:chExt cx="501228" cy="1661392"/>
          </a:xfrm>
        </p:grpSpPr>
        <p:sp>
          <p:nvSpPr>
            <p:cNvPr name="AutoShape 11" id="11"/>
            <p:cNvSpPr/>
            <p:nvPr/>
          </p:nvSpPr>
          <p:spPr>
            <a:xfrm flipH="true">
              <a:off x="25400" y="129"/>
              <a:ext cx="8453" cy="1661133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 flipH="true">
              <a:off x="467375" y="129"/>
              <a:ext cx="8453" cy="1661133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8956040" y="7828211"/>
            <a:ext cx="375921" cy="1246044"/>
            <a:chOff x="0" y="0"/>
            <a:chExt cx="501228" cy="1661392"/>
          </a:xfrm>
        </p:grpSpPr>
        <p:sp>
          <p:nvSpPr>
            <p:cNvPr name="AutoShape 14" id="14"/>
            <p:cNvSpPr/>
            <p:nvPr/>
          </p:nvSpPr>
          <p:spPr>
            <a:xfrm flipH="true">
              <a:off x="25400" y="129"/>
              <a:ext cx="8453" cy="1661133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" id="15"/>
            <p:cNvSpPr/>
            <p:nvPr/>
          </p:nvSpPr>
          <p:spPr>
            <a:xfrm flipH="true">
              <a:off x="467375" y="129"/>
              <a:ext cx="8453" cy="1661133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AutoShape 16" id="16"/>
          <p:cNvSpPr/>
          <p:nvPr/>
        </p:nvSpPr>
        <p:spPr>
          <a:xfrm flipV="true">
            <a:off x="1028700" y="1227498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028700" y="9055204"/>
            <a:ext cx="162306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DAHKygygPoM</dc:identifier>
  <dcterms:modified xsi:type="dcterms:W3CDTF">2011-08-01T06:04:30Z</dcterms:modified>
  <cp:revision>1</cp:revision>
  <dc:title>Observabilidad IA con Langfuse</dc:title>
</cp:coreProperties>
</file>